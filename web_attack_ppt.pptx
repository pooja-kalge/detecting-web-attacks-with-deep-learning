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12/13/2024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12/13/2024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12/13/2024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12/13/2024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12/13/2024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12/13/2024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12/13/2024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12/13/2024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12/13/2024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12/13/2024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12/13/2024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12/13/2024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12/13/2024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12/13/2024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12/13/2024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12/13/2024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12/13/2024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12/13/2024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1E0B-ABC2-A9EB-E951-9399918DD13A}"/>
              </a:ext>
            </a:extLst>
          </p:cNvPr>
          <p:cNvSpPr>
            <a:spLocks noGrp="1"/>
          </p:cNvSpPr>
          <p:nvPr>
            <p:ph type="ctrTitle"/>
          </p:nvPr>
        </p:nvSpPr>
        <p:spPr>
          <a:xfrm>
            <a:off x="1295632" y="1434905"/>
            <a:ext cx="8825658" cy="4186538"/>
          </a:xfrm>
        </p:spPr>
        <p:txBody>
          <a:bodyPr/>
          <a:lstStyle/>
          <a:p>
            <a:br>
              <a:rPr lang="en-US" dirty="0"/>
            </a:br>
            <a:br>
              <a:rPr lang="en-US" dirty="0"/>
            </a:br>
            <a:br>
              <a:rPr lang="en-US" dirty="0"/>
            </a:br>
            <a:br>
              <a:rPr lang="en-US" dirty="0"/>
            </a:br>
            <a:r>
              <a:rPr lang="en-US" dirty="0"/>
              <a:t>Performance Analysis of Different ML/DL Algorithms for Detecting Web </a:t>
            </a:r>
            <a:r>
              <a:rPr lang="en-US" dirty="0" err="1"/>
              <a:t>Attcks</a:t>
            </a:r>
            <a:br>
              <a:rPr lang="en-US" dirty="0"/>
            </a:br>
            <a:endParaRPr lang="en-IN" dirty="0"/>
          </a:p>
        </p:txBody>
      </p:sp>
    </p:spTree>
    <p:extLst>
      <p:ext uri="{BB962C8B-B14F-4D97-AF65-F5344CB8AC3E}">
        <p14:creationId xmlns:p14="http://schemas.microsoft.com/office/powerpoint/2010/main" val="79258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F81C6-9940-C42A-EBCC-C5CA519231BB}"/>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A9D2C874-B14E-EC3F-965C-ACA39A3C4C0E}"/>
              </a:ext>
            </a:extLst>
          </p:cNvPr>
          <p:cNvSpPr>
            <a:spLocks noGrp="1"/>
          </p:cNvSpPr>
          <p:nvPr>
            <p:ph idx="1"/>
          </p:nvPr>
        </p:nvSpPr>
        <p:spPr/>
        <p:txBody>
          <a:bodyPr/>
          <a:lstStyle/>
          <a:p>
            <a:pPr algn="just"/>
            <a:r>
              <a:rPr lang="en-US" dirty="0"/>
              <a:t>Web applications are common targets for cyber-attacks due to their network accessibility and inherent vulnerabilities. Intrusion detection systems (IDS) monitor these applications and issue alerts when attacks are detected. However, existing IDS often rely on manually selected features, which is time-consuming and requires extensive domain knowledge. Furthermore, obtaining large amounts of labeled data for training supervised learning algorithms is often expensive and impractical. This paper explores the use of unsupervised/semi-supervised approaches for web attack detection, demonstrating that low-dimensional representations of raw features can effectively detect anomalies like SQL injection, cross-site scripting, and deserialization with minimal domain knowledge and labeled data.</a:t>
            </a:r>
            <a:endParaRPr lang="en-IN" dirty="0"/>
          </a:p>
        </p:txBody>
      </p:sp>
    </p:spTree>
    <p:extLst>
      <p:ext uri="{BB962C8B-B14F-4D97-AF65-F5344CB8AC3E}">
        <p14:creationId xmlns:p14="http://schemas.microsoft.com/office/powerpoint/2010/main" val="3584401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5EDCA-DDBE-C5F9-ECC0-FF63C5BD174D}"/>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44AD1FE3-0426-4D83-CD71-F38BCCC1A842}"/>
              </a:ext>
            </a:extLst>
          </p:cNvPr>
          <p:cNvSpPr>
            <a:spLocks noGrp="1"/>
          </p:cNvSpPr>
          <p:nvPr>
            <p:ph idx="1"/>
          </p:nvPr>
        </p:nvSpPr>
        <p:spPr/>
        <p:txBody>
          <a:bodyPr/>
          <a:lstStyle/>
          <a:p>
            <a:pPr algn="just"/>
            <a:r>
              <a:rPr lang="en-US" dirty="0"/>
              <a:t>Web application security is a critical concern as these applications are frequently targeted by cyber-attacks due to their accessibility and potential vulnerabilities. Traditional intrusion detection systems (IDS) rely on manually selecting features and require large amounts of labeled data for training, which can be impractical in real-world applications. This paper explores innovative approaches to web attack detection, focusing on unsupervised and semi-supervised methods that require minimal domain expertise and labeled data. The goal is to enhance the efficiency and accuracy of detecting attacks and deserialization with reduced dependency on manual feature selection and extensive training datasets.</a:t>
            </a:r>
            <a:endParaRPr lang="en-IN" dirty="0"/>
          </a:p>
        </p:txBody>
      </p:sp>
    </p:spTree>
    <p:extLst>
      <p:ext uri="{BB962C8B-B14F-4D97-AF65-F5344CB8AC3E}">
        <p14:creationId xmlns:p14="http://schemas.microsoft.com/office/powerpoint/2010/main" val="1263723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42F2E-333F-3384-F192-B2086FABD51D}"/>
              </a:ext>
            </a:extLst>
          </p:cNvPr>
          <p:cNvSpPr>
            <a:spLocks noGrp="1"/>
          </p:cNvSpPr>
          <p:nvPr>
            <p:ph type="title"/>
          </p:nvPr>
        </p:nvSpPr>
        <p:spPr/>
        <p:txBody>
          <a:bodyPr/>
          <a:lstStyle/>
          <a:p>
            <a:r>
              <a:rPr lang="en-US" dirty="0"/>
              <a:t>Existed Method</a:t>
            </a:r>
            <a:endParaRPr lang="en-IN" dirty="0"/>
          </a:p>
        </p:txBody>
      </p:sp>
      <p:sp>
        <p:nvSpPr>
          <p:cNvPr id="3" name="Content Placeholder 2">
            <a:extLst>
              <a:ext uri="{FF2B5EF4-FFF2-40B4-BE49-F238E27FC236}">
                <a16:creationId xmlns:a16="http://schemas.microsoft.com/office/drawing/2014/main" id="{3F89C3B6-CE29-FD36-8C22-C02C14095BC4}"/>
              </a:ext>
            </a:extLst>
          </p:cNvPr>
          <p:cNvSpPr>
            <a:spLocks noGrp="1"/>
          </p:cNvSpPr>
          <p:nvPr>
            <p:ph idx="1"/>
          </p:nvPr>
        </p:nvSpPr>
        <p:spPr/>
        <p:txBody>
          <a:bodyPr/>
          <a:lstStyle/>
          <a:p>
            <a:r>
              <a:rPr lang="en-US" dirty="0"/>
              <a:t>Support Vector Machine</a:t>
            </a:r>
            <a:endParaRPr lang="en-IN" dirty="0"/>
          </a:p>
        </p:txBody>
      </p:sp>
    </p:spTree>
    <p:extLst>
      <p:ext uri="{BB962C8B-B14F-4D97-AF65-F5344CB8AC3E}">
        <p14:creationId xmlns:p14="http://schemas.microsoft.com/office/powerpoint/2010/main" val="429554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987EC-6352-67E9-C2A0-601123B03C73}"/>
              </a:ext>
            </a:extLst>
          </p:cNvPr>
          <p:cNvSpPr>
            <a:spLocks noGrp="1"/>
          </p:cNvSpPr>
          <p:nvPr>
            <p:ph type="title"/>
          </p:nvPr>
        </p:nvSpPr>
        <p:spPr/>
        <p:txBody>
          <a:bodyPr/>
          <a:lstStyle/>
          <a:p>
            <a:r>
              <a:rPr lang="en-US" dirty="0"/>
              <a:t>Disadvantages:</a:t>
            </a:r>
            <a:endParaRPr lang="en-IN" dirty="0"/>
          </a:p>
        </p:txBody>
      </p:sp>
      <p:sp>
        <p:nvSpPr>
          <p:cNvPr id="3" name="Content Placeholder 2">
            <a:extLst>
              <a:ext uri="{FF2B5EF4-FFF2-40B4-BE49-F238E27FC236}">
                <a16:creationId xmlns:a16="http://schemas.microsoft.com/office/drawing/2014/main" id="{F4515809-84C2-44C7-4722-32AD33B61E55}"/>
              </a:ext>
            </a:extLst>
          </p:cNvPr>
          <p:cNvSpPr>
            <a:spLocks noGrp="1"/>
          </p:cNvSpPr>
          <p:nvPr>
            <p:ph idx="1"/>
          </p:nvPr>
        </p:nvSpPr>
        <p:spPr/>
        <p:txBody>
          <a:bodyPr/>
          <a:lstStyle/>
          <a:p>
            <a:r>
              <a:rPr lang="en-US" dirty="0"/>
              <a:t>Less Accuracy</a:t>
            </a:r>
          </a:p>
          <a:p>
            <a:r>
              <a:rPr lang="en-US" dirty="0"/>
              <a:t>Less Efficiency</a:t>
            </a:r>
          </a:p>
          <a:p>
            <a:r>
              <a:rPr lang="en-US" dirty="0"/>
              <a:t>More Complexity</a:t>
            </a:r>
            <a:endParaRPr lang="en-IN" dirty="0"/>
          </a:p>
        </p:txBody>
      </p:sp>
    </p:spTree>
    <p:extLst>
      <p:ext uri="{BB962C8B-B14F-4D97-AF65-F5344CB8AC3E}">
        <p14:creationId xmlns:p14="http://schemas.microsoft.com/office/powerpoint/2010/main" val="2815837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E3AF7-F14E-13A3-9CA8-E5C600346CFA}"/>
              </a:ext>
            </a:extLst>
          </p:cNvPr>
          <p:cNvSpPr>
            <a:spLocks noGrp="1"/>
          </p:cNvSpPr>
          <p:nvPr>
            <p:ph type="title"/>
          </p:nvPr>
        </p:nvSpPr>
        <p:spPr/>
        <p:txBody>
          <a:bodyPr/>
          <a:lstStyle/>
          <a:p>
            <a:r>
              <a:rPr lang="en-US" dirty="0"/>
              <a:t>Proposed Method</a:t>
            </a:r>
            <a:endParaRPr lang="en-IN" dirty="0"/>
          </a:p>
        </p:txBody>
      </p:sp>
      <p:sp>
        <p:nvSpPr>
          <p:cNvPr id="3" name="Content Placeholder 2">
            <a:extLst>
              <a:ext uri="{FF2B5EF4-FFF2-40B4-BE49-F238E27FC236}">
                <a16:creationId xmlns:a16="http://schemas.microsoft.com/office/drawing/2014/main" id="{EA57E723-E347-DA4D-D574-B336DE655173}"/>
              </a:ext>
            </a:extLst>
          </p:cNvPr>
          <p:cNvSpPr>
            <a:spLocks noGrp="1"/>
          </p:cNvSpPr>
          <p:nvPr>
            <p:ph idx="1"/>
          </p:nvPr>
        </p:nvSpPr>
        <p:spPr/>
        <p:txBody>
          <a:bodyPr/>
          <a:lstStyle/>
          <a:p>
            <a:r>
              <a:rPr lang="en-US" dirty="0"/>
              <a:t>Autoencoder</a:t>
            </a:r>
          </a:p>
          <a:p>
            <a:r>
              <a:rPr lang="en-US" dirty="0"/>
              <a:t>LSTM</a:t>
            </a:r>
            <a:endParaRPr lang="en-IN" dirty="0"/>
          </a:p>
        </p:txBody>
      </p:sp>
    </p:spTree>
    <p:extLst>
      <p:ext uri="{BB962C8B-B14F-4D97-AF65-F5344CB8AC3E}">
        <p14:creationId xmlns:p14="http://schemas.microsoft.com/office/powerpoint/2010/main" val="3388022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1CCAD-CB8D-BA18-B9DA-6C80172EAC54}"/>
              </a:ext>
            </a:extLst>
          </p:cNvPr>
          <p:cNvSpPr>
            <a:spLocks noGrp="1"/>
          </p:cNvSpPr>
          <p:nvPr>
            <p:ph type="title"/>
          </p:nvPr>
        </p:nvSpPr>
        <p:spPr/>
        <p:txBody>
          <a:bodyPr/>
          <a:lstStyle/>
          <a:p>
            <a:r>
              <a:rPr lang="en-US" dirty="0"/>
              <a:t>Advantages:</a:t>
            </a:r>
            <a:br>
              <a:rPr lang="en-US" dirty="0"/>
            </a:br>
            <a:endParaRPr lang="en-IN" dirty="0"/>
          </a:p>
        </p:txBody>
      </p:sp>
      <p:sp>
        <p:nvSpPr>
          <p:cNvPr id="3" name="Content Placeholder 2">
            <a:extLst>
              <a:ext uri="{FF2B5EF4-FFF2-40B4-BE49-F238E27FC236}">
                <a16:creationId xmlns:a16="http://schemas.microsoft.com/office/drawing/2014/main" id="{E0B5C33F-1E2C-401A-6B3E-101FF7D66FE3}"/>
              </a:ext>
            </a:extLst>
          </p:cNvPr>
          <p:cNvSpPr>
            <a:spLocks noGrp="1"/>
          </p:cNvSpPr>
          <p:nvPr>
            <p:ph idx="1"/>
          </p:nvPr>
        </p:nvSpPr>
        <p:spPr/>
        <p:txBody>
          <a:bodyPr/>
          <a:lstStyle/>
          <a:p>
            <a:r>
              <a:rPr lang="en-IN" sz="1800" b="1" dirty="0">
                <a:effectLst/>
                <a:latin typeface="Calibri" panose="020F0502020204030204" pitchFamily="34" charset="0"/>
                <a:ea typeface="Calibri" panose="020F0502020204030204" pitchFamily="34" charset="0"/>
                <a:cs typeface="Times New Roman" panose="02020603050405020304" pitchFamily="18" charset="0"/>
              </a:rPr>
              <a:t>Enhanced Accuracy</a:t>
            </a:r>
          </a:p>
          <a:p>
            <a:r>
              <a:rPr lang="en-IN" sz="1800" b="1" dirty="0">
                <a:effectLst/>
                <a:latin typeface="Calibri" panose="020F0502020204030204" pitchFamily="34" charset="0"/>
                <a:ea typeface="Calibri" panose="020F0502020204030204" pitchFamily="34" charset="0"/>
                <a:cs typeface="Times New Roman" panose="02020603050405020304" pitchFamily="18" charset="0"/>
              </a:rPr>
              <a:t>Adaptability to Diverse Data</a:t>
            </a:r>
            <a:endParaRPr lang="en-IN" b="1" dirty="0">
              <a:latin typeface="Calibri" panose="020F0502020204030204" pitchFamily="34" charset="0"/>
              <a:ea typeface="Calibri" panose="020F0502020204030204" pitchFamily="34" charset="0"/>
              <a:cs typeface="Times New Roman" panose="02020603050405020304" pitchFamily="18" charset="0"/>
            </a:endParaRPr>
          </a:p>
          <a:p>
            <a:r>
              <a:rPr lang="en-IN" sz="1800" b="1" dirty="0">
                <a:effectLst/>
                <a:latin typeface="Calibri" panose="020F0502020204030204" pitchFamily="34" charset="0"/>
                <a:ea typeface="Calibri" panose="020F0502020204030204" pitchFamily="34" charset="0"/>
                <a:cs typeface="Times New Roman" panose="02020603050405020304" pitchFamily="18" charset="0"/>
              </a:rPr>
              <a:t>Scalability</a:t>
            </a:r>
            <a:endParaRPr lang="en-IN" dirty="0"/>
          </a:p>
        </p:txBody>
      </p:sp>
    </p:spTree>
    <p:extLst>
      <p:ext uri="{BB962C8B-B14F-4D97-AF65-F5344CB8AC3E}">
        <p14:creationId xmlns:p14="http://schemas.microsoft.com/office/powerpoint/2010/main" val="3278993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38B3-D5FE-AFF0-DEA5-CD62866A693A}"/>
              </a:ext>
            </a:extLst>
          </p:cNvPr>
          <p:cNvSpPr>
            <a:spLocks noGrp="1"/>
          </p:cNvSpPr>
          <p:nvPr>
            <p:ph type="title"/>
          </p:nvPr>
        </p:nvSpPr>
        <p:spPr/>
        <p:txBody>
          <a:bodyPr/>
          <a:lstStyle/>
          <a:p>
            <a:r>
              <a:rPr lang="en-US" dirty="0"/>
              <a:t>Results: Interface</a:t>
            </a:r>
            <a:endParaRPr lang="en-IN" dirty="0"/>
          </a:p>
        </p:txBody>
      </p:sp>
      <p:pic>
        <p:nvPicPr>
          <p:cNvPr id="4" name="Content Placeholder 3">
            <a:extLst>
              <a:ext uri="{FF2B5EF4-FFF2-40B4-BE49-F238E27FC236}">
                <a16:creationId xmlns:a16="http://schemas.microsoft.com/office/drawing/2014/main" id="{546AD56A-E9B8-4B81-D0D6-8BFCA1050352}"/>
              </a:ext>
            </a:extLst>
          </p:cNvPr>
          <p:cNvPicPr>
            <a:picLocks noGrp="1" noChangeAspect="1"/>
          </p:cNvPicPr>
          <p:nvPr>
            <p:ph idx="1"/>
          </p:nvPr>
        </p:nvPicPr>
        <p:blipFill>
          <a:blip r:embed="rId2"/>
          <a:stretch>
            <a:fillRect/>
          </a:stretch>
        </p:blipFill>
        <p:spPr>
          <a:xfrm>
            <a:off x="2122000" y="2209603"/>
            <a:ext cx="7570640" cy="4256407"/>
          </a:xfrm>
          <a:prstGeom prst="rect">
            <a:avLst/>
          </a:prstGeom>
        </p:spPr>
      </p:pic>
    </p:spTree>
    <p:extLst>
      <p:ext uri="{BB962C8B-B14F-4D97-AF65-F5344CB8AC3E}">
        <p14:creationId xmlns:p14="http://schemas.microsoft.com/office/powerpoint/2010/main" val="1282079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1467-8CF6-87C6-1850-48AB7777B915}"/>
              </a:ext>
            </a:extLst>
          </p:cNvPr>
          <p:cNvSpPr>
            <a:spLocks noGrp="1"/>
          </p:cNvSpPr>
          <p:nvPr>
            <p:ph type="title"/>
          </p:nvPr>
        </p:nvSpPr>
        <p:spPr/>
        <p:txBody>
          <a:bodyPr/>
          <a:lstStyle/>
          <a:p>
            <a:r>
              <a:rPr lang="en-US" dirty="0"/>
              <a:t>Upload Dataset</a:t>
            </a:r>
            <a:endParaRPr lang="en-IN" dirty="0"/>
          </a:p>
        </p:txBody>
      </p:sp>
      <p:pic>
        <p:nvPicPr>
          <p:cNvPr id="4" name="Content Placeholder 3">
            <a:extLst>
              <a:ext uri="{FF2B5EF4-FFF2-40B4-BE49-F238E27FC236}">
                <a16:creationId xmlns:a16="http://schemas.microsoft.com/office/drawing/2014/main" id="{6D4DAD90-036A-94F6-837D-B19033BD828B}"/>
              </a:ext>
            </a:extLst>
          </p:cNvPr>
          <p:cNvPicPr>
            <a:picLocks noGrp="1" noChangeAspect="1"/>
          </p:cNvPicPr>
          <p:nvPr>
            <p:ph idx="1"/>
          </p:nvPr>
        </p:nvPicPr>
        <p:blipFill>
          <a:blip r:embed="rId2"/>
          <a:stretch>
            <a:fillRect/>
          </a:stretch>
        </p:blipFill>
        <p:spPr>
          <a:xfrm>
            <a:off x="2093864" y="2279942"/>
            <a:ext cx="7584708" cy="4264317"/>
          </a:xfrm>
          <a:prstGeom prst="rect">
            <a:avLst/>
          </a:prstGeom>
        </p:spPr>
      </p:pic>
    </p:spTree>
    <p:extLst>
      <p:ext uri="{BB962C8B-B14F-4D97-AF65-F5344CB8AC3E}">
        <p14:creationId xmlns:p14="http://schemas.microsoft.com/office/powerpoint/2010/main" val="3667031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22FDB-83C8-E41E-6026-FFBB1DF693C2}"/>
              </a:ext>
            </a:extLst>
          </p:cNvPr>
          <p:cNvSpPr>
            <a:spLocks noGrp="1"/>
          </p:cNvSpPr>
          <p:nvPr>
            <p:ph type="title"/>
          </p:nvPr>
        </p:nvSpPr>
        <p:spPr/>
        <p:txBody>
          <a:bodyPr/>
          <a:lstStyle/>
          <a:p>
            <a:r>
              <a:rPr lang="en-US" dirty="0"/>
              <a:t>Dataset Upload And Processing</a:t>
            </a:r>
            <a:endParaRPr lang="en-IN" dirty="0"/>
          </a:p>
        </p:txBody>
      </p:sp>
      <p:pic>
        <p:nvPicPr>
          <p:cNvPr id="4" name="Content Placeholder 3">
            <a:extLst>
              <a:ext uri="{FF2B5EF4-FFF2-40B4-BE49-F238E27FC236}">
                <a16:creationId xmlns:a16="http://schemas.microsoft.com/office/drawing/2014/main" id="{C88A0156-34B1-3264-0E5E-5A7FD4443A02}"/>
              </a:ext>
            </a:extLst>
          </p:cNvPr>
          <p:cNvPicPr>
            <a:picLocks noGrp="1" noChangeAspect="1"/>
          </p:cNvPicPr>
          <p:nvPr>
            <p:ph idx="1"/>
          </p:nvPr>
        </p:nvPicPr>
        <p:blipFill>
          <a:blip r:embed="rId2"/>
          <a:stretch>
            <a:fillRect/>
          </a:stretch>
        </p:blipFill>
        <p:spPr>
          <a:xfrm>
            <a:off x="1592409" y="2195536"/>
            <a:ext cx="7823859" cy="4398773"/>
          </a:xfrm>
          <a:prstGeom prst="rect">
            <a:avLst/>
          </a:prstGeom>
        </p:spPr>
      </p:pic>
    </p:spTree>
    <p:extLst>
      <p:ext uri="{BB962C8B-B14F-4D97-AF65-F5344CB8AC3E}">
        <p14:creationId xmlns:p14="http://schemas.microsoft.com/office/powerpoint/2010/main" val="112318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213CC-1CAB-9CB5-7D76-2CF7560D5EED}"/>
              </a:ext>
            </a:extLst>
          </p:cNvPr>
          <p:cNvSpPr>
            <a:spLocks noGrp="1"/>
          </p:cNvSpPr>
          <p:nvPr>
            <p:ph type="title"/>
          </p:nvPr>
        </p:nvSpPr>
        <p:spPr/>
        <p:txBody>
          <a:bodyPr/>
          <a:lstStyle/>
          <a:p>
            <a:r>
              <a:rPr lang="en-US" dirty="0"/>
              <a:t>OTP Validation Screen</a:t>
            </a:r>
            <a:endParaRPr lang="en-IN" dirty="0"/>
          </a:p>
        </p:txBody>
      </p:sp>
      <p:pic>
        <p:nvPicPr>
          <p:cNvPr id="4" name="Content Placeholder 3">
            <a:extLst>
              <a:ext uri="{FF2B5EF4-FFF2-40B4-BE49-F238E27FC236}">
                <a16:creationId xmlns:a16="http://schemas.microsoft.com/office/drawing/2014/main" id="{E20DDB46-CB22-5184-DA29-25957DE97D62}"/>
              </a:ext>
            </a:extLst>
          </p:cNvPr>
          <p:cNvPicPr>
            <a:picLocks noGrp="1" noChangeAspect="1"/>
          </p:cNvPicPr>
          <p:nvPr>
            <p:ph idx="1"/>
          </p:nvPr>
        </p:nvPicPr>
        <p:blipFill>
          <a:blip r:embed="rId2"/>
          <a:stretch>
            <a:fillRect/>
          </a:stretch>
        </p:blipFill>
        <p:spPr>
          <a:xfrm>
            <a:off x="2248609" y="2505025"/>
            <a:ext cx="7106406" cy="3995403"/>
          </a:xfrm>
          <a:prstGeom prst="rect">
            <a:avLst/>
          </a:prstGeom>
        </p:spPr>
      </p:pic>
    </p:spTree>
    <p:extLst>
      <p:ext uri="{BB962C8B-B14F-4D97-AF65-F5344CB8AC3E}">
        <p14:creationId xmlns:p14="http://schemas.microsoft.com/office/powerpoint/2010/main" val="4189492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E48F0-C2F2-AD51-FB1B-1F445738D129}"/>
              </a:ext>
            </a:extLst>
          </p:cNvPr>
          <p:cNvSpPr>
            <a:spLocks noGrp="1"/>
          </p:cNvSpPr>
          <p:nvPr>
            <p:ph type="title"/>
          </p:nvPr>
        </p:nvSpPr>
        <p:spPr/>
        <p:txBody>
          <a:bodyPr/>
          <a:lstStyle/>
          <a:p>
            <a:r>
              <a:rPr lang="en-US" dirty="0"/>
              <a:t>Algorithm Performance</a:t>
            </a:r>
            <a:endParaRPr lang="en-IN" dirty="0"/>
          </a:p>
        </p:txBody>
      </p:sp>
      <p:pic>
        <p:nvPicPr>
          <p:cNvPr id="7" name="Content Placeholder 6">
            <a:extLst>
              <a:ext uri="{FF2B5EF4-FFF2-40B4-BE49-F238E27FC236}">
                <a16:creationId xmlns:a16="http://schemas.microsoft.com/office/drawing/2014/main" id="{6C005C71-0AFE-DC64-38DD-248AC7761C49}"/>
              </a:ext>
            </a:extLst>
          </p:cNvPr>
          <p:cNvPicPr>
            <a:picLocks noGrp="1" noChangeAspect="1"/>
          </p:cNvPicPr>
          <p:nvPr>
            <p:ph idx="1"/>
          </p:nvPr>
        </p:nvPicPr>
        <p:blipFill>
          <a:blip r:embed="rId2"/>
          <a:stretch>
            <a:fillRect/>
          </a:stretch>
        </p:blipFill>
        <p:spPr>
          <a:xfrm>
            <a:off x="829994" y="1680631"/>
            <a:ext cx="9917723" cy="4692033"/>
          </a:xfrm>
          <a:prstGeom prst="rect">
            <a:avLst/>
          </a:prstGeom>
        </p:spPr>
      </p:pic>
    </p:spTree>
    <p:extLst>
      <p:ext uri="{BB962C8B-B14F-4D97-AF65-F5344CB8AC3E}">
        <p14:creationId xmlns:p14="http://schemas.microsoft.com/office/powerpoint/2010/main" val="2044661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E819-F255-956B-E3C0-A78760211D4E}"/>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B5F9C6A2-D68A-4560-ACEF-3AD2A727F601}"/>
              </a:ext>
            </a:extLst>
          </p:cNvPr>
          <p:cNvSpPr>
            <a:spLocks noGrp="1"/>
          </p:cNvSpPr>
          <p:nvPr>
            <p:ph idx="1"/>
          </p:nvPr>
        </p:nvSpPr>
        <p:spPr/>
        <p:txBody>
          <a:bodyPr/>
          <a:lstStyle/>
          <a:p>
            <a:pPr algn="just"/>
            <a:r>
              <a:rPr lang="en-US" dirty="0"/>
              <a:t>Web applications are frequent targets for cyber-attacks due to their accessibility and vulnerabilities. Traditional intrusion detection systems often rely on manually selected features and require large amounts of labeled data, which is costly and impractical. This paper explores an unsupervised/semi-supervised approach for web attack detection using a stacked denoising autoencoder, which detects anomalies by reconstructing raw feature data with minimal labeled training. The results demonstrate that this approach can effectively detect attacks like SQL injection, cross-site scripting, and deserialization with minimal domain expertise and labeled data.</a:t>
            </a:r>
            <a:endParaRPr lang="en-IN" dirty="0"/>
          </a:p>
        </p:txBody>
      </p:sp>
    </p:spTree>
    <p:extLst>
      <p:ext uri="{BB962C8B-B14F-4D97-AF65-F5344CB8AC3E}">
        <p14:creationId xmlns:p14="http://schemas.microsoft.com/office/powerpoint/2010/main" val="32571228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{8C19E769-1E46-4EEE-8C61-F2BFACB3CE46}tf02900722</Template>
  <TotalTime>21</TotalTime>
  <Words>376</Words>
  <Application>Microsoft Office PowerPoint</Application>
  <PresentationFormat>Widescreen</PresentationFormat>
  <Paragraphs>25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Century Gothic</vt:lpstr>
      <vt:lpstr>Wingdings 3</vt:lpstr>
      <vt:lpstr>Ion Boardroom</vt:lpstr>
      <vt:lpstr>    Performance Analysis of Different ML/DL Algorithms for Detecting Web Attcks </vt:lpstr>
      <vt:lpstr>Abstract</vt:lpstr>
      <vt:lpstr>Introduction</vt:lpstr>
      <vt:lpstr>Existed Method</vt:lpstr>
      <vt:lpstr>Disadvantages:</vt:lpstr>
      <vt:lpstr>Proposed Method</vt:lpstr>
      <vt:lpstr>Advantages: </vt:lpstr>
      <vt:lpstr>Results: Interface</vt:lpstr>
      <vt:lpstr>Upload Dataset</vt:lpstr>
      <vt:lpstr>Dataset Upload And Processing</vt:lpstr>
      <vt:lpstr>OTP Validation Screen</vt:lpstr>
      <vt:lpstr>Algorithm Performance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priyanka Jinturkar</dc:creator>
  <cp:lastModifiedBy>priyanka Jinturkar</cp:lastModifiedBy>
  <cp:revision>1</cp:revision>
  <dcterms:created xsi:type="dcterms:W3CDTF">2024-12-13T19:49:23Z</dcterms:created>
  <dcterms:modified xsi:type="dcterms:W3CDTF">2024-12-13T20:11:23Z</dcterms:modified>
</cp:coreProperties>
</file>